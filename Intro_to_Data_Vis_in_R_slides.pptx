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406" r:id="rId3"/>
    <p:sldId id="410" r:id="rId4"/>
    <p:sldId id="407" r:id="rId5"/>
    <p:sldId id="409" r:id="rId6"/>
    <p:sldId id="411" r:id="rId7"/>
    <p:sldId id="412" r:id="rId8"/>
    <p:sldId id="408" r:id="rId9"/>
    <p:sldId id="414" r:id="rId10"/>
    <p:sldId id="413" r:id="rId11"/>
    <p:sldId id="417" r:id="rId12"/>
    <p:sldId id="418" r:id="rId13"/>
    <p:sldId id="415" r:id="rId14"/>
    <p:sldId id="416" r:id="rId15"/>
    <p:sldId id="419" r:id="rId16"/>
    <p:sldId id="375" r:id="rId17"/>
    <p:sldId id="405" r:id="rId18"/>
    <p:sldId id="420" r:id="rId19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97825DE4-A198-468F-898D-C5BD5F984618}"/>
    <pc:docChg chg="undo custSel addSld delSld modSld sldOrd">
      <pc:chgData name="Korochkina, Maria" userId="c909cca0-0566-42e0-8dc0-791f330c8ce2" providerId="ADAL" clId="{97825DE4-A198-468F-898D-C5BD5F984618}" dt="2025-11-18T09:42:41.592" v="1659" actId="14100"/>
      <pc:docMkLst>
        <pc:docMk/>
      </pc:docMkLst>
      <pc:sldChg chg="modSp add mod">
        <pc:chgData name="Korochkina, Maria" userId="c909cca0-0566-42e0-8dc0-791f330c8ce2" providerId="ADAL" clId="{97825DE4-A198-468F-898D-C5BD5F984618}" dt="2025-11-05T16:21:20.874" v="1653" actId="255"/>
        <pc:sldMkLst>
          <pc:docMk/>
          <pc:sldMk cId="3027749522" sldId="375"/>
        </pc:sldMkLst>
        <pc:spChg chg="mod">
          <ac:chgData name="Korochkina, Maria" userId="c909cca0-0566-42e0-8dc0-791f330c8ce2" providerId="ADAL" clId="{97825DE4-A198-468F-898D-C5BD5F984618}" dt="2025-11-05T16:21:20.874" v="1653" actId="255"/>
          <ac:spMkLst>
            <pc:docMk/>
            <pc:sldMk cId="3027749522" sldId="375"/>
            <ac:spMk id="19" creationId="{6FEC07AD-007D-72E3-BEF9-FF67450B43E2}"/>
          </ac:spMkLst>
        </pc:spChg>
      </pc:sldChg>
      <pc:sldChg chg="addSp modSp new mod">
        <pc:chgData name="Korochkina, Maria" userId="c909cca0-0566-42e0-8dc0-791f330c8ce2" providerId="ADAL" clId="{97825DE4-A198-468F-898D-C5BD5F984618}" dt="2025-11-18T09:42:41.592" v="1659" actId="14100"/>
        <pc:sldMkLst>
          <pc:docMk/>
          <pc:sldMk cId="1046865679" sldId="420"/>
        </pc:sldMkLst>
        <pc:picChg chg="add mod">
          <ac:chgData name="Korochkina, Maria" userId="c909cca0-0566-42e0-8dc0-791f330c8ce2" providerId="ADAL" clId="{97825DE4-A198-468F-898D-C5BD5F984618}" dt="2025-11-18T09:42:41.592" v="1659" actId="14100"/>
          <ac:picMkLst>
            <pc:docMk/>
            <pc:sldMk cId="1046865679" sldId="420"/>
            <ac:picMk id="3" creationId="{393C93C6-9C2D-2E6B-80F9-E9E9F6171F1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2B36-4507-1F40-FDD4-253D61E75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35E0F-4BC7-C8BD-776F-4CB2C707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B2954-D44B-48C6-5794-59C4DA66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400D-D47A-E09C-5C9F-FA1DEDBA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D72D9-91C6-1FEB-484A-DA5D4592C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334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229FD-FAA8-BCC7-30D9-97E2AEF10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332B6-D388-3580-822D-F0E83A21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454C4-B678-D42F-4E00-65E33B74A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E0084-EA50-C4CB-9020-47351C8A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C74C5-6A79-9A6C-C8B3-D1565E2C0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4346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1B6CD-B9D4-531C-C5D8-3C8C490B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F3A43-E782-2DB9-7055-986F62126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405BC-CA04-DEAB-85EC-97FBF72A7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895CE-3E74-DB0C-0E53-F470D3336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3C85E-E338-DA8E-936A-C4F35A3F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231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99197-53CB-6435-90AD-CCF06452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BBAB3-A435-F5AE-572E-D6AC01548B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5BF68-E2C9-81C0-ADA1-73B112821B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63076-A9E2-CF43-56ED-8B13B0A6B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6D60-E05F-E4DB-4D7B-C84C8AA5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97A61-261E-E7A1-52EA-1306EC06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090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873A-DEED-95BD-9FF0-F901FBBC4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5E5DF-2EF7-8FB3-647A-1ECE88A1C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407D7F-CF15-2F3B-9FAD-1586432C6C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90F03-C11B-C714-F977-687A92C576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D1A0F-AED5-F0D2-1E87-845D21DA9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B1FCA-7C59-4CDB-004D-B1259773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281E84-12FD-0A73-1309-CAC01275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970DB1-9AEA-5436-3204-8A6EDCC0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0936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2C277-A2EA-78D0-9BEE-C56DC12C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B8075-2DA3-82B3-D22C-9C3F0329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8497A-9E47-36AD-5538-999F9092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6C4A7-B749-DFB2-12DA-CC844C80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6579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46006-DCA7-C18B-70FF-A722C9FA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155479-3F25-42A9-0814-8B63BD9B7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EA769-1D54-75C5-01F8-F15925C0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3796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2E5A0-485E-BC2F-40C7-FC79F71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2369-BFBA-A803-573D-6E4627232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96DE2-CCB9-665B-BCDD-9EED517B0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06E327-B062-06BF-2B10-5C51D71B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0F3033-FBF3-0EF8-B251-1F3CD26A8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B25E49-C3EB-BBF4-4B26-7B36A6D33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2093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255A-6F2E-1EE8-2D25-8FA7F6B4A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6202A2-8268-7AA4-AD29-A65470E011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A75C77-3571-77A0-DA90-28ADB9997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97D752-F374-0C64-AB9C-CC9BC3C1C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03CA0-F413-7C70-4805-6C6DAD68E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A1E2C-A1D7-9B80-8DA0-8D95F3B9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115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15A9-8B6D-D38C-72B9-CF960A88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73035A-A834-E72B-249A-F40620D0B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B7038-4F30-18BD-FAD1-EB31CA676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782DC-05EA-3D77-F44A-E2B9A6380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B5ED3-E623-AFB4-5B09-45066B4C5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48925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87514-E1F6-B7D9-3E82-A045B73113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B4BDC-A5A1-FAFC-6670-4F148F0BFD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D5F6-C1ED-336E-6B15-095DA517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74467-9033-A73F-45B7-76463FBA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E5631-B2F1-743B-1252-E63F213B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0146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FBF41-7DF1-872B-69B4-F1239AC0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BB42E-FA91-851D-0274-56741D576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8D762-EFD3-D7BC-808D-626CF53DC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5937AC-9840-43B4-9212-D00AD73B35EF}" type="datetimeFigureOut">
              <a:rPr lang="en-DE" smtClean="0"/>
              <a:t>18/11/2025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F223F-3268-38CD-3A8F-D1F2BD7745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D4EB7-1B8C-8ECF-A3F2-ACC622184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8998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tempo.io/blog/good-and-bad-data-visualization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to Data Visualisation in R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F5810-86BA-9456-1D53-D13B589E0F5A}"/>
              </a:ext>
            </a:extLst>
          </p:cNvPr>
          <p:cNvSpPr txBox="1"/>
          <p:nvPr/>
        </p:nvSpPr>
        <p:spPr>
          <a:xfrm>
            <a:off x="3608614" y="2628781"/>
            <a:ext cx="497477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«</a:t>
            </a:r>
            <a:r>
              <a:rPr lang="en-GB" sz="2800" dirty="0">
                <a:latin typeface="Abadi" panose="020B0604020104020204" pitchFamily="34" charset="0"/>
              </a:rPr>
              <a:t>The purpose of </a:t>
            </a:r>
            <a:r>
              <a:rPr lang="de-DE" sz="2800" dirty="0">
                <a:latin typeface="Abadi" panose="020B0604020104020204" pitchFamily="34" charset="0"/>
              </a:rPr>
              <a:t>visualisation </a:t>
            </a:r>
            <a:r>
              <a:rPr lang="en-GB" sz="2800" dirty="0">
                <a:latin typeface="Abadi" panose="020B0604020104020204" pitchFamily="34" charset="0"/>
              </a:rPr>
              <a:t>is insight, not pictures</a:t>
            </a:r>
            <a:r>
              <a:rPr lang="ru-RU" sz="2800" dirty="0"/>
              <a:t>»</a:t>
            </a:r>
            <a:endParaRPr lang="de-DE" sz="2800" dirty="0"/>
          </a:p>
          <a:p>
            <a:pPr algn="ctr"/>
            <a:endParaRPr lang="de-DE" sz="2800" dirty="0">
              <a:latin typeface="Abadi" panose="020B0604020104020204" pitchFamily="34" charset="0"/>
            </a:endParaRPr>
          </a:p>
          <a:p>
            <a:pPr algn="r"/>
            <a:r>
              <a:rPr lang="de-DE" sz="1400" dirty="0">
                <a:latin typeface="Abadi" panose="020B0604020104020204" pitchFamily="34" charset="0"/>
              </a:rPr>
              <a:t>Ben Schneiderman</a:t>
            </a:r>
            <a:endParaRPr lang="en-DE" sz="1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464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BB0D8-FFF0-E4F8-56C3-80F7B5527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Key things to consider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E7FAE-1FD8-260D-DF6C-71659335B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85000" lnSpcReduction="20000"/>
          </a:bodyPr>
          <a:lstStyle/>
          <a:p>
            <a:pPr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</a:t>
            </a:r>
            <a:r>
              <a:rPr lang="en-GB" b="1" dirty="0">
                <a:latin typeface="Abadi" panose="020B0604020104020204" pitchFamily="34" charset="0"/>
              </a:rPr>
              <a:t>’</a:t>
            </a:r>
            <a:r>
              <a:rPr lang="de-DE" b="1" dirty="0">
                <a:latin typeface="Abadi" panose="020B0604020104020204" pitchFamily="34" charset="0"/>
              </a:rPr>
              <a:t>s my message?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What is the main story or insight that you want to communicate?</a:t>
            </a:r>
            <a:endParaRPr lang="de-DE" dirty="0">
              <a:latin typeface="Abadi" panose="020B0604020104020204" pitchFamily="34" charset="0"/>
            </a:endParaRP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 does my audience need to understand it?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Consider their background, expectations, and how much context they need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What information do I need to show that message?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Choose data and visuals that directly support your point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Did I include everything essential — and only that?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Keep the focus on what matters, and remove clutter or irrelevant details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Am I being transparent and truthful?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Make sure scales, colours, and design choices reflect the data accurately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Could my visualisation mislead or confuse?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Check for distortions &amp; missing context that might create the wrong impression</a:t>
            </a:r>
            <a:endParaRPr lang="de-DE" sz="2200" dirty="0">
              <a:latin typeface="Abadi" panose="020B0604020104020204" pitchFamily="34" charset="0"/>
            </a:endParaRPr>
          </a:p>
          <a:p>
            <a:endParaRPr lang="en-DE" sz="2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221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2A88-43EA-7B26-71D8-7B07B3D9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can you see the differences?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10C8AB45-9CAA-B218-7491-73A608243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6" b="34285"/>
          <a:stretch>
            <a:fillRect/>
          </a:stretch>
        </p:blipFill>
        <p:spPr>
          <a:xfrm>
            <a:off x="2942318" y="1690688"/>
            <a:ext cx="6307364" cy="40930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76AC0E-EA91-1CCE-0147-945F87B90447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172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F393-5D5B-F794-2069-D4886BEE0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FCFAA-9ACA-6BED-5D9C-722E98AF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the pallette intuitive?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479E23-40B3-ED36-8330-BC93FE87B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226" y="1690688"/>
            <a:ext cx="8535548" cy="392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334262-A6AE-A126-1CFD-B8254B42F90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783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E8AE-EC60-DC2F-7DDE-9953F6DC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AE242F-1E97-9B17-DA8B-15AE23AF8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5F5506-697F-CD23-3F7B-C25AFF0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it meaningful?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95066-325D-97DC-B702-3784A45E727E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681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AA1C-431C-1681-AE3C-0BDBB0C2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0B2743-C339-741C-CE8C-52988632A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2E4215-4FF4-0ED9-AC63-C6D62813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Does it need to be so complex?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08364-DC8B-8DED-D14D-91B6E14D81B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932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A1FB-7752-340C-7481-472B7018F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BA2FE-15F0-C356-3666-DE4F3374A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Seriously, does it?..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 descr="A chart with colorful lines and numbers&#10;&#10;AI-generated content may be incorrect.">
            <a:extLst>
              <a:ext uri="{FF2B5EF4-FFF2-40B4-BE49-F238E27FC236}">
                <a16:creationId xmlns:a16="http://schemas.microsoft.com/office/drawing/2014/main" id="{022FF576-DA21-BBBF-CC59-BB943F663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792" y="1690688"/>
            <a:ext cx="7342415" cy="46822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DC2328-4502-DBED-629F-090262A3D719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958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F1E3-5927-F4A5-C4B1-E8CA0B2FD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EAD-D80C-CB1E-A8B6-4ED94B92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8B33185D-F142-A955-CADD-D0A324DB7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 r="51275"/>
          <a:stretch>
            <a:fillRect/>
          </a:stretch>
        </p:blipFill>
        <p:spPr>
          <a:xfrm>
            <a:off x="2252124" y="2046514"/>
            <a:ext cx="3745905" cy="4043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64CC08-E4D4-4F44-5D74-67CA894EDBF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8E51-863E-1BA6-FD89-65D7DEF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EAEDD-F656-0F56-CAFD-A4F2163F9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F1043BD3-C024-9B4E-2404-5AA24681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/>
          <a:stretch>
            <a:fillRect/>
          </a:stretch>
        </p:blipFill>
        <p:spPr>
          <a:xfrm>
            <a:off x="2252124" y="2046514"/>
            <a:ext cx="7687752" cy="4043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F43A9-F867-F61C-447A-6C4878064D6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89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D9A8-F317-9911-7DD8-C181C3DC3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696BF-67A4-9A34-4915-A68511BB2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794C5-1BAF-AEBE-5292-D7C699AF31A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2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A410F1-5B3B-DD33-B50F-5F327C15F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976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5E1EE-27CB-9012-EC9A-2E2EECD29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1197-0360-3655-A90A-8D232556E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D0879-2AC1-181F-70EF-8385D30B6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70" t="51746" r="4406" b="2699"/>
          <a:stretch>
            <a:fillRect/>
          </a:stretch>
        </p:blipFill>
        <p:spPr>
          <a:xfrm>
            <a:off x="6360618" y="1896298"/>
            <a:ext cx="4499571" cy="3866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46AF5E-0CD3-0F3D-32EF-1ACC3C3B0F0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D2C5DA-9B0E-0BD6-46CD-2EAF1345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78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EFA9C-8A54-DEC4-5303-C02BE985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400C-8F78-690E-BD2C-BFCCCF7D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6121F1-80F6-2BF0-E705-3AF04065C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 r="69425"/>
          <a:stretch>
            <a:fillRect/>
          </a:stretch>
        </p:blipFill>
        <p:spPr>
          <a:xfrm>
            <a:off x="2229238" y="1959430"/>
            <a:ext cx="2364533" cy="38236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C4A519-3B2E-B946-F402-A6D3289E04F1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01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331CD-7221-9FF7-9C4A-08D38814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26D1F-F207-D33D-AE23-D018ACC43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4621C-78ED-36F1-50B2-602C67086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/>
          <a:stretch>
            <a:fillRect/>
          </a:stretch>
        </p:blipFill>
        <p:spPr>
          <a:xfrm>
            <a:off x="2229238" y="1959430"/>
            <a:ext cx="7733523" cy="38236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D2CAD3-4A40-BEBA-3A1A-F79579851F8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56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6A2D8-628B-F853-A15E-B7FCB128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754A-1DB2-DE34-A1A7-DD74F5D2F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Wait…what?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35A41D-0902-C2F0-983A-A5AFF666C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22" r="8680"/>
          <a:stretch>
            <a:fillRect/>
          </a:stretch>
        </p:blipFill>
        <p:spPr>
          <a:xfrm>
            <a:off x="2679727" y="1690688"/>
            <a:ext cx="6832546" cy="43584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5F16E4-A6CA-2D09-67DE-41425DE5685D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161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993648" y="3198167"/>
            <a:ext cx="102047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200" dirty="0">
                <a:latin typeface="Abadi" panose="020B06040201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https://github.com/mariakna/SEDarc2025_Intro_to_Data_Vis_in_R/tree/main</a:t>
            </a: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3C93C6-9C2D-2E6B-80F9-E9E9F6171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376" y="0"/>
            <a:ext cx="9615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865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429</Words>
  <Application>Microsoft Office PowerPoint</Application>
  <PresentationFormat>Widescreen</PresentationFormat>
  <Paragraphs>47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Abadi</vt:lpstr>
      <vt:lpstr>Aptos</vt:lpstr>
      <vt:lpstr>Aptos Display</vt:lpstr>
      <vt:lpstr>Arial</vt:lpstr>
      <vt:lpstr>Office Theme</vt:lpstr>
      <vt:lpstr>Introduction to Data Visualisation in R</vt:lpstr>
      <vt:lpstr>PowerPoint Presentation</vt:lpstr>
      <vt:lpstr>Key things to consider</vt:lpstr>
      <vt:lpstr>Colour – can you see the differences?</vt:lpstr>
      <vt:lpstr>Colour – is the pallette intuitive?</vt:lpstr>
      <vt:lpstr>Colour – is it meaningful?</vt:lpstr>
      <vt:lpstr>Does it need to be so complex?</vt:lpstr>
      <vt:lpstr>Seriously, does it?..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Wait…what?</vt:lpstr>
      <vt:lpstr>Materials</vt:lpstr>
      <vt:lpstr>Thank you!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1</cp:revision>
  <dcterms:created xsi:type="dcterms:W3CDTF">2025-10-14T15:22:58Z</dcterms:created>
  <dcterms:modified xsi:type="dcterms:W3CDTF">2025-11-18T09:42:45Z</dcterms:modified>
</cp:coreProperties>
</file>